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4"/>
  </p:notesMasterIdLst>
  <p:sldIdLst>
    <p:sldId id="260" r:id="rId5"/>
    <p:sldId id="262" r:id="rId6"/>
    <p:sldId id="263" r:id="rId7"/>
    <p:sldId id="264" r:id="rId8"/>
    <p:sldId id="403" r:id="rId9"/>
    <p:sldId id="265" r:id="rId10"/>
    <p:sldId id="277" r:id="rId11"/>
    <p:sldId id="404" r:id="rId12"/>
    <p:sldId id="396" r:id="rId13"/>
    <p:sldId id="395" r:id="rId14"/>
    <p:sldId id="405" r:id="rId15"/>
    <p:sldId id="422" r:id="rId16"/>
    <p:sldId id="407" r:id="rId17"/>
    <p:sldId id="425" r:id="rId18"/>
    <p:sldId id="427" r:id="rId19"/>
    <p:sldId id="382" r:id="rId20"/>
    <p:sldId id="406" r:id="rId21"/>
    <p:sldId id="361" r:id="rId22"/>
    <p:sldId id="362" r:id="rId23"/>
    <p:sldId id="408" r:id="rId24"/>
    <p:sldId id="410" r:id="rId25"/>
    <p:sldId id="411" r:id="rId26"/>
    <p:sldId id="412" r:id="rId27"/>
    <p:sldId id="413" r:id="rId28"/>
    <p:sldId id="414" r:id="rId29"/>
    <p:sldId id="363" r:id="rId30"/>
    <p:sldId id="366" r:id="rId31"/>
    <p:sldId id="374" r:id="rId32"/>
    <p:sldId id="424" r:id="rId33"/>
    <p:sldId id="402" r:id="rId34"/>
    <p:sldId id="415" r:id="rId35"/>
    <p:sldId id="416" r:id="rId36"/>
    <p:sldId id="418" r:id="rId37"/>
    <p:sldId id="417" r:id="rId38"/>
    <p:sldId id="419" r:id="rId39"/>
    <p:sldId id="420" r:id="rId40"/>
    <p:sldId id="426" r:id="rId41"/>
    <p:sldId id="421" r:id="rId42"/>
    <p:sldId id="275" r:id="rId43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hjxPrsOBPP4yViyrDTJVpXgOZ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5DF0A-D412-FC52-6144-944FCC98737A}" v="373" dt="2022-11-10T16:28:15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63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82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77" Type="http://customschemas.google.com/relationships/presentationmetadata" Target="metadata"/><Relationship Id="rId8" Type="http://schemas.openxmlformats.org/officeDocument/2006/relationships/slide" Target="slides/slide4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937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574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866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1449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981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001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532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485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025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5260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973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989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016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056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686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9385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384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0234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599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5126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8485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156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245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2704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7696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0055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7438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6227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96828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3367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7309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85778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7808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Exploração</a:t>
            </a:r>
            <a:endParaRPr sz="2400" b="0" i="1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C3F779C-6A9D-036E-0141-C5086B4E5447}"/>
              </a:ext>
            </a:extLst>
          </p:cNvPr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 Peres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DIO  Tech Education Analyst</a:t>
            </a:r>
            <a:endParaRPr lang="en-US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cassiano-dio</a:t>
            </a:r>
            <a:endParaRPr lang="en-US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peres-cassiano</a:t>
            </a:r>
            <a:endParaRPr sz="1600" b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25C8E-1D6C-A6AB-F4F2-119BB89F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84" y="4030935"/>
            <a:ext cx="250309" cy="25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7CEDB2E-730F-EAE5-00A6-1E71B635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78" y="4435961"/>
            <a:ext cx="250309" cy="24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algn="just"/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Explorar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falhas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garantir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acesso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executar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ações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 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extrair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 dados de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computadores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vulneráveis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.</a:t>
            </a:r>
            <a:endParaRPr lang="en-US" dirty="0"/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/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Conhecimento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 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adquirido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ao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longo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 da </a:t>
            </a:r>
            <a:r>
              <a:rPr lang="en-US" sz="2400" dirty="0" err="1">
                <a:solidFill>
                  <a:srgbClr val="040A24"/>
                </a:solidFill>
                <a:latin typeface="Calibri"/>
                <a:cs typeface="Calibri"/>
              </a:rPr>
              <a:t>trilha</a:t>
            </a:r>
            <a:r>
              <a:rPr lang="en-US" sz="2400" dirty="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Explorando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falhas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no FTP</a:t>
            </a:r>
          </a:p>
        </p:txBody>
      </p:sp>
      <p:sp>
        <p:nvSpPr>
          <p:cNvPr id="185" name="Google Shape;185;p17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262750" y="2865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 DoS no RDP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Explorando falhas no SSH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4</a:t>
            </a:r>
            <a:endParaRPr sz="2800" b="1" i="0" u="none" strike="noStrike" cap="none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Adicionando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backdoor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executável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705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Explorando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falhas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FTP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FTP é um dos métodos de compartilhamento de dados mais antigos e ainda usados. 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456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Embora as equipes de TI e os usuários de negócios estejam familiarizados com isso, o FTP carece de muitos requisitos vitais de segurança, conformidade e fluxo de trabalho nas organizações modernas, especialmente em segurança de dados.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391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Anonymous authentication;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Directory traversal attack;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Cross-site scripting;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Dridex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Vulnerabilidades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FTP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1120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 uma ferramenta utilizaza por cibercriminosos e hackers éticos para investigar vulnerabilidades em redes e servidores.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Metasploit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 descr="metasploit-framework | Kali Linux Tools">
            <a:extLst>
              <a:ext uri="{FF2B5EF4-FFF2-40B4-BE49-F238E27FC236}">
                <a16:creationId xmlns:a16="http://schemas.microsoft.com/office/drawing/2014/main" id="{12A0A480-AF4E-FAA8-D8B2-C7768CAB9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97" y="3662451"/>
            <a:ext cx="1272405" cy="127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22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Metasploit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CF21FF6D-D14D-F093-9522-1411FB357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865" y="1744075"/>
            <a:ext cx="3106271" cy="274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54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74327"/>
            <a:ext cx="8016900" cy="344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lnSpc>
                <a:spcPct val="150000"/>
              </a:lnSpc>
              <a:buChar char="•"/>
            </a:pPr>
            <a:r>
              <a:rPr lang="pt-BR" sz="2400" b="1" dirty="0" err="1">
                <a:sym typeface="Calibri"/>
              </a:rPr>
              <a:t>msfconsole</a:t>
            </a:r>
            <a:r>
              <a:rPr lang="pt-BR" sz="2400" dirty="0">
                <a:sym typeface="Calibri"/>
              </a:rPr>
              <a:t>: modo console;</a:t>
            </a:r>
            <a:endParaRPr lang="en-US" dirty="0"/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pt-BR" sz="2400" b="1" dirty="0" err="1">
                <a:sym typeface="Calibri"/>
              </a:rPr>
              <a:t>msfweb</a:t>
            </a:r>
            <a:r>
              <a:rPr lang="pt-BR" sz="2400" dirty="0">
                <a:sym typeface="Calibri"/>
              </a:rPr>
              <a:t>: Interface gráfica via browser;</a:t>
            </a:r>
            <a:endParaRPr lang="pt-BR" dirty="0"/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pt-BR" sz="2400" b="1" dirty="0" err="1">
                <a:ea typeface="Calibri"/>
                <a:sym typeface="Calibri"/>
              </a:rPr>
              <a:t>msfplayload</a:t>
            </a:r>
            <a:r>
              <a:rPr lang="pt-BR" sz="2400" dirty="0">
                <a:ea typeface="Calibri"/>
                <a:sym typeface="Calibri"/>
              </a:rPr>
              <a:t>: gerar </a:t>
            </a:r>
            <a:r>
              <a:rPr lang="pt-BR" sz="2400" i="0" u="none" strike="noStrike" cap="none" dirty="0">
                <a:ea typeface="Calibri"/>
                <a:sym typeface="Calibri"/>
              </a:rPr>
              <a:t>e </a:t>
            </a:r>
            <a:r>
              <a:rPr lang="pt-BR" sz="2400" dirty="0">
                <a:ea typeface="Calibri"/>
                <a:sym typeface="Calibri"/>
              </a:rPr>
              <a:t>customizar </a:t>
            </a:r>
            <a:r>
              <a:rPr lang="pt-BR" sz="2400" dirty="0" err="1">
                <a:ea typeface="Calibri"/>
                <a:sym typeface="Calibri"/>
              </a:rPr>
              <a:t>payloads</a:t>
            </a:r>
            <a:r>
              <a:rPr lang="pt-BR" sz="2400" dirty="0">
                <a:ea typeface="Calibri"/>
                <a:sym typeface="Calibri"/>
              </a:rPr>
              <a:t>;</a:t>
            </a:r>
            <a:endParaRPr lang="pt-BR" dirty="0" err="1"/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pt-BR" sz="2400" b="1" dirty="0" err="1">
                <a:ea typeface="Calibri"/>
                <a:sym typeface="Calibri"/>
              </a:rPr>
              <a:t>msfcli</a:t>
            </a:r>
            <a:r>
              <a:rPr lang="pt-BR" sz="2400" dirty="0">
                <a:ea typeface="Calibri"/>
                <a:sym typeface="Calibri"/>
              </a:rPr>
              <a:t>: Interface de automatização de invasão;</a:t>
            </a:r>
            <a:endParaRPr lang="pt-BR" dirty="0"/>
          </a:p>
          <a:p>
            <a:pPr marL="285750" indent="-285750" algn="just">
              <a:lnSpc>
                <a:spcPct val="150000"/>
              </a:lnSpc>
              <a:buChar char="•"/>
            </a:pPr>
            <a:r>
              <a:rPr lang="pt-BR" sz="2400" b="1" dirty="0" err="1">
                <a:ea typeface="Calibri"/>
                <a:sym typeface="Calibri"/>
              </a:rPr>
              <a:t>msflogdump</a:t>
            </a:r>
            <a:r>
              <a:rPr lang="pt-BR" sz="2400" dirty="0">
                <a:ea typeface="Calibri"/>
                <a:sym typeface="Calibri"/>
              </a:rPr>
              <a:t>: exibirá as sessões de arquivos de log.</a:t>
            </a:r>
            <a:endParaRPr lang="pt-BR" dirty="0"/>
          </a:p>
          <a:p>
            <a:pPr marL="0" marR="0" lvl="0" indent="0" algn="just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None/>
            </a:pPr>
            <a:endParaRPr lang="pt-BR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Ferramentas do Metasploit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8896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Metasploit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pic>
        <p:nvPicPr>
          <p:cNvPr id="2050" name="Picture 2" descr="Metasploit: The Exploit Framework for Penetration Testers - Open Source For  You">
            <a:extLst>
              <a:ext uri="{FF2B5EF4-FFF2-40B4-BE49-F238E27FC236}">
                <a16:creationId xmlns:a16="http://schemas.microsoft.com/office/drawing/2014/main" id="{85E50B84-23B1-69B8-669F-336D6D156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024" y="2010004"/>
            <a:ext cx="4741952" cy="264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810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pt-BR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Vamos realizar o ataque contra a máquina VM do </a:t>
            </a:r>
            <a:r>
              <a:rPr lang="pt-BR" sz="2400" dirty="0" err="1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Metaspoitable</a:t>
            </a:r>
            <a:r>
              <a:rPr lang="pt-BR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 com os serviços vulneráveis.</a:t>
            </a:r>
            <a:endParaRPr lang="en-US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sym typeface="Century Gothic"/>
              </a:rPr>
              <a:t>Metasploitable</a:t>
            </a:r>
            <a:endParaRPr lang="en-US" dirty="0" err="1"/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842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sym typeface="Century Gothic"/>
              </a:rPr>
              <a:t>Metasploitable</a:t>
            </a:r>
            <a:endParaRPr lang="en-US" dirty="0" err="1"/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Text&#10;&#10;Description automatically generated">
            <a:extLst>
              <a:ext uri="{FF2B5EF4-FFF2-40B4-BE49-F238E27FC236}">
                <a16:creationId xmlns:a16="http://schemas.microsoft.com/office/drawing/2014/main" id="{EA5FD65C-73ED-76C8-A158-85970A93C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1" y="2179544"/>
            <a:ext cx="4377017" cy="243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14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pt-BR" sz="2400" dirty="0">
                <a:ea typeface="Calibri"/>
                <a:sym typeface="Calibri"/>
              </a:rPr>
              <a:t>Módulos para </a:t>
            </a:r>
            <a:r>
              <a:rPr lang="pt-BR" sz="2400" dirty="0" err="1">
                <a:ea typeface="Calibri"/>
                <a:sym typeface="Calibri"/>
              </a:rPr>
              <a:t>exploit</a:t>
            </a:r>
            <a:r>
              <a:rPr lang="pt-BR" sz="2400" dirty="0">
                <a:ea typeface="Calibri"/>
                <a:sym typeface="Calibri"/>
              </a:rPr>
              <a:t>, sendo de três tipos:</a:t>
            </a:r>
            <a:endParaRPr lang="en-US" dirty="0">
              <a:ea typeface="Calibri"/>
            </a:endParaRP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pt-BR" sz="2400" dirty="0">
                <a:ea typeface="Calibri"/>
                <a:sym typeface="Calibri"/>
              </a:rPr>
              <a:t>Singles;</a:t>
            </a:r>
            <a:endParaRPr lang="en-US" dirty="0">
              <a:ea typeface="Calibri"/>
            </a:endParaRP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pt-BR" sz="2400" dirty="0" err="1">
                <a:ea typeface="Calibri"/>
                <a:sym typeface="Calibri"/>
              </a:rPr>
              <a:t>Stagers</a:t>
            </a:r>
            <a:r>
              <a:rPr lang="pt-BR" sz="2400" dirty="0">
                <a:ea typeface="Calibri"/>
                <a:sym typeface="Calibri"/>
              </a:rPr>
              <a:t>;</a:t>
            </a:r>
            <a:endParaRPr lang="en-US" dirty="0">
              <a:ea typeface="Calibri"/>
            </a:endParaRP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pt-BR" sz="2400" dirty="0" err="1">
                <a:ea typeface="Calibri"/>
                <a:sym typeface="Calibri"/>
              </a:rPr>
              <a:t>Stages</a:t>
            </a:r>
            <a:r>
              <a:rPr lang="pt-BR" sz="2400" i="0" u="none" strike="noStrike" cap="none" dirty="0">
                <a:ea typeface="Calibri"/>
                <a:sym typeface="Calibri"/>
              </a:rPr>
              <a:t>.</a:t>
            </a:r>
            <a:endParaRPr lang="en-US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sym typeface="Century Gothic"/>
              </a:rPr>
              <a:t>Payloads</a:t>
            </a:r>
            <a:endParaRPr lang="en-US" dirty="0"/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9465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1000"/>
              </a:spcBef>
              <a:buSzPts val="2400"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explorar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vulnerabilidades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protocolo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FTP com o Metasploit.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90670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 DoS no RDP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12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235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RDP é a abreviação de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Remote Desktop </a:t>
            </a:r>
            <a:r>
              <a:rPr lang="pt-BR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sendo 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opção para controlar um sistema de computador remotamente.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26" name="Picture 2" descr="Conectar-se ao computador remoto ingressado no Azure Active Directory ( Windows) - Windows Client Management | Microsoft Learn">
            <a:extLst>
              <a:ext uri="{FF2B5EF4-FFF2-40B4-BE49-F238E27FC236}">
                <a16:creationId xmlns:a16="http://schemas.microsoft.com/office/drawing/2014/main" id="{8D73E752-70BD-92B7-EB6F-381E0C5A1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595" y="3368269"/>
            <a:ext cx="2120809" cy="131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953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serviço RDP pode ser configurado por administradores de sistemas Windows para ser executado em TCP (geralmente na porta 3389) e/ou na porta UDP (3389). 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RDP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893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 ataques RDP são tentativas de agentes de ameaças de acessar um host de desktop remoto ou privilégios administrativos do cliente para reconhecimento, comando e controle e movimentação lateral.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RDP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4014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RDP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pic>
        <p:nvPicPr>
          <p:cNvPr id="2050" name="Picture 2" descr="A graphic image from Trend Micro showing the flow of an RDP attack against a company.">
            <a:extLst>
              <a:ext uri="{FF2B5EF4-FFF2-40B4-BE49-F238E27FC236}">
                <a16:creationId xmlns:a16="http://schemas.microsoft.com/office/drawing/2014/main" id="{890605A9-E6FD-90B4-F75B-CA9AC2BA0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028" y="2029136"/>
            <a:ext cx="4291647" cy="265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626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Calling Into Robinhood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SamSam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Ransomware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taques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RDP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7598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3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Autenticação multifator e requisitos complexos de credenciais de acesso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Estabelecer políticas de bloqueio de conta para tentativas de força bruta;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Controle de acesso baseado em função (RBAC) para consoles RDP;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Restrições de acesso RDP baseadas em firewall.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Prevenção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12694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simular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nossa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máquina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virtual Windows.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9862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3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Explorando falhas no SSH</a:t>
            </a:r>
            <a:endParaRPr lang="pt-BR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09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abordar as falhas no SSH e explorá-las com o Metasploit.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6790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protocolo SSH é utilizado para a comunicação remota entre dispositivos, sendo executado na porta 22.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SSH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2466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pt-BR" sz="2400" dirty="0">
                <a:solidFill>
                  <a:srgbClr val="040A24"/>
                </a:solidFill>
                <a:latin typeface="Calibri"/>
                <a:cs typeface="Calibri"/>
                <a:sym typeface="Calibri"/>
              </a:rPr>
              <a:t>Utilizaremos o ataque de força bruta com arquivos de usuários e senhas para encontrar credenciais.</a:t>
            </a:r>
            <a:endParaRPr lang="en-US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4000" b="1" dirty="0">
                <a:solidFill>
                  <a:srgbClr val="EA4E60"/>
                </a:solidFill>
                <a:latin typeface="Century Gothic"/>
                <a:sym typeface="Century Gothic"/>
              </a:rPr>
              <a:t>Metasploit SSH</a:t>
            </a:r>
            <a:endParaRPr lang="en-US" dirty="0"/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5636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ao nosso laboratório executar o Metasploit para explorar as vulnerabilidades em uma VM.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3983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4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Adicionando backdoor em um executável</a:t>
            </a:r>
            <a:endParaRPr lang="pt-BR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176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aula vamos mascarar um backdoor para varredura em um arquivo executável.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996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74327"/>
            <a:ext cx="8016900" cy="219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5000"/>
              </a:lnSpc>
              <a:spcBef>
                <a:spcPts val="1000"/>
              </a:spcBef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É definido como o uso de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qualquer malware/vírus/tecnologia para obter acesso não autorizado ao aplicativo/sistema/rede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driblando a segurança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implementada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Backdoor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  <p:pic>
        <p:nvPicPr>
          <p:cNvPr id="2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50C1F5F5-ADB4-7646-23BA-61FABC8A6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385297"/>
            <a:ext cx="3200400" cy="169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19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Backdoor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pic>
        <p:nvPicPr>
          <p:cNvPr id="3074" name="Picture 2" descr="What is a Backdoor Attack? ⚙️ Examples and Prevention">
            <a:extLst>
              <a:ext uri="{FF2B5EF4-FFF2-40B4-BE49-F238E27FC236}">
                <a16:creationId xmlns:a16="http://schemas.microsoft.com/office/drawing/2014/main" id="{59926666-2CAC-0FE8-99B2-5FB6071DB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823" y="1641675"/>
            <a:ext cx="5338354" cy="320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165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Spyware;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Ransomware;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DDoS;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Cryptojacking.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com backdoor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0792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Rotatividade de senhas;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Monitoramento de atividades da rede;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Cautela ao instalar programas;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Antivirus.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contra backdoor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2138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pt-BR" sz="2400" dirty="0">
                <a:ea typeface="Calibri"/>
                <a:sym typeface="Calibri"/>
              </a:rPr>
              <a:t>Ou Meta-</a:t>
            </a:r>
            <a:r>
              <a:rPr lang="pt-BR" sz="2400" dirty="0" err="1">
                <a:ea typeface="Calibri"/>
                <a:sym typeface="Calibri"/>
              </a:rPr>
              <a:t>Interpreter</a:t>
            </a:r>
            <a:r>
              <a:rPr lang="pt-BR" sz="2400" dirty="0">
                <a:ea typeface="Calibri"/>
                <a:sym typeface="Calibri"/>
              </a:rPr>
              <a:t>, é um </a:t>
            </a:r>
            <a:r>
              <a:rPr lang="pt-BR" sz="2400" dirty="0" err="1">
                <a:ea typeface="Calibri"/>
                <a:sym typeface="Calibri"/>
              </a:rPr>
              <a:t>payload</a:t>
            </a:r>
            <a:r>
              <a:rPr lang="pt-BR" sz="2400" dirty="0">
                <a:ea typeface="Calibri"/>
                <a:sym typeface="Calibri"/>
              </a:rPr>
              <a:t>  que funciona por </a:t>
            </a:r>
            <a:r>
              <a:rPr lang="pt-BR" sz="2400" b="1" dirty="0" err="1">
                <a:ea typeface="Calibri"/>
                <a:sym typeface="Calibri"/>
              </a:rPr>
              <a:t>injecção</a:t>
            </a:r>
            <a:r>
              <a:rPr lang="pt-BR" sz="2400" b="1" dirty="0">
                <a:ea typeface="Calibri"/>
                <a:sym typeface="Calibri"/>
              </a:rPr>
              <a:t> </a:t>
            </a:r>
            <a:r>
              <a:rPr lang="pt-BR" sz="2400" b="1" dirty="0" err="1">
                <a:ea typeface="Calibri"/>
                <a:sym typeface="Calibri"/>
              </a:rPr>
              <a:t>dll</a:t>
            </a:r>
            <a:r>
              <a:rPr lang="pt-BR" sz="2400" i="0" u="none" strike="noStrike" cap="none" dirty="0">
                <a:ea typeface="Calibri"/>
                <a:sym typeface="Calibri"/>
              </a:rPr>
              <a:t>.</a:t>
            </a:r>
            <a:r>
              <a:rPr lang="pt-BR" sz="2400" dirty="0">
                <a:ea typeface="Calibri"/>
                <a:sym typeface="Calibri"/>
              </a:rPr>
              <a:t> </a:t>
            </a:r>
            <a:endParaRPr lang="en-US" dirty="0">
              <a:ea typeface="Calibri"/>
              <a:sym typeface="Calibri"/>
            </a:endParaRPr>
          </a:p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pt-BR" sz="2400" dirty="0">
                <a:ea typeface="Calibri"/>
                <a:sym typeface="Calibri"/>
              </a:rPr>
              <a:t>O </a:t>
            </a:r>
            <a:r>
              <a:rPr lang="pt-BR" sz="2400" dirty="0" err="1">
                <a:ea typeface="Calibri"/>
                <a:sym typeface="Calibri"/>
              </a:rPr>
              <a:t>meterpreter</a:t>
            </a:r>
            <a:r>
              <a:rPr lang="pt-BR" sz="2400" dirty="0">
                <a:ea typeface="Calibri"/>
                <a:sym typeface="Calibri"/>
              </a:rPr>
              <a:t> reside inteiramente na </a:t>
            </a:r>
            <a:r>
              <a:rPr lang="pt-BR" sz="2400" b="1" dirty="0">
                <a:ea typeface="Calibri"/>
                <a:sym typeface="Calibri"/>
              </a:rPr>
              <a:t>memória </a:t>
            </a:r>
            <a:r>
              <a:rPr lang="pt-BR" sz="2400" dirty="0">
                <a:ea typeface="Calibri"/>
                <a:sym typeface="Calibri"/>
              </a:rPr>
              <a:t>do anfitrião e não deixa vestígios no disco rígido (o que a torna de difícil detecção nas técnicas forenses).</a:t>
            </a:r>
            <a:endParaRPr lang="en-US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sym typeface="Century Gothic"/>
              </a:rPr>
              <a:t>Meterpreter</a:t>
            </a:r>
            <a:endParaRPr lang="en-US" dirty="0"/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5287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criar um backdoor embarcado em um executável e testar o ataque em uma VM.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64217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7CB545-2F42-4F9B-81B9-9B2A306F6F9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945ED4D2-CB89-48D0-9492-48A32AB0C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395025-9147-4E15-889A-D42EB62FD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4146</TotalTime>
  <Words>858</Words>
  <Application>Microsoft Office PowerPoint</Application>
  <PresentationFormat>Apresentação no Ecrã (16:9)</PresentationFormat>
  <Paragraphs>150</Paragraphs>
  <Slides>39</Slides>
  <Notes>39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39</vt:i4>
      </vt:variant>
    </vt:vector>
  </HeadingPairs>
  <TitlesOfParts>
    <vt:vector size="40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 Mestieri</dc:creator>
  <cp:lastModifiedBy>Cassiano  Peres</cp:lastModifiedBy>
  <cp:revision>127</cp:revision>
  <dcterms:modified xsi:type="dcterms:W3CDTF">2025-05-23T20:46:32Z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