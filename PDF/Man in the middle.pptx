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5"/>
  </p:notesMasterIdLst>
  <p:sldIdLst>
    <p:sldId id="260" r:id="rId5"/>
    <p:sldId id="262" r:id="rId6"/>
    <p:sldId id="263" r:id="rId7"/>
    <p:sldId id="264" r:id="rId8"/>
    <p:sldId id="265" r:id="rId9"/>
    <p:sldId id="277" r:id="rId10"/>
    <p:sldId id="404" r:id="rId11"/>
    <p:sldId id="431" r:id="rId12"/>
    <p:sldId id="396" r:id="rId13"/>
    <p:sldId id="432" r:id="rId14"/>
    <p:sldId id="433" r:id="rId15"/>
    <p:sldId id="406" r:id="rId16"/>
    <p:sldId id="442" r:id="rId17"/>
    <p:sldId id="361" r:id="rId18"/>
    <p:sldId id="362" r:id="rId19"/>
    <p:sldId id="408" r:id="rId20"/>
    <p:sldId id="435" r:id="rId21"/>
    <p:sldId id="437" r:id="rId22"/>
    <p:sldId id="438" r:id="rId23"/>
    <p:sldId id="436" r:id="rId24"/>
    <p:sldId id="414" r:id="rId25"/>
    <p:sldId id="434" r:id="rId26"/>
    <p:sldId id="363" r:id="rId27"/>
    <p:sldId id="366" r:id="rId28"/>
    <p:sldId id="374" r:id="rId29"/>
    <p:sldId id="439" r:id="rId30"/>
    <p:sldId id="402" r:id="rId31"/>
    <p:sldId id="441" r:id="rId32"/>
    <p:sldId id="440" r:id="rId33"/>
    <p:sldId id="275" r:id="rId3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7" roundtripDataSignature="AMtx7mhjxPrsOBPP4yViyrDTJVpXgOZ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7269A-5492-E472-851F-AD7BDF644E70}" v="61" dt="2022-11-16T17:09:38.952"/>
    <p1510:client id="{A41BA44E-E0D8-7700-5A9A-76622EDB58BD}" v="12" dt="2022-11-16T19:56:11.835"/>
    <p1510:client id="{D81E155F-8F80-0A0E-A1D9-96898464ECB6}" v="1" dt="2022-11-16T20:04:10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82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77" Type="http://customschemas.google.com/relationships/presentationmetadata" Target="metadata"/><Relationship Id="rId8" Type="http://schemas.openxmlformats.org/officeDocument/2006/relationships/slide" Target="slides/slide4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20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57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866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5748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1449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885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173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989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7282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016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056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686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2862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194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5427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382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512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459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8485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1560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42459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61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7696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011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0158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 in the middle</a:t>
            </a:r>
            <a:endParaRPr sz="2400" b="0" i="1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2C3F779C-6A9D-036E-0141-C5086B4E5447}"/>
              </a:ext>
            </a:extLst>
          </p:cNvPr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 Peres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DIO  Tech Education Analyst</a:t>
            </a:r>
            <a:endParaRPr lang="en-US" sz="2400" b="1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cassiano-dio</a:t>
            </a:r>
            <a:endParaRPr lang="en-US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peres-cassiano</a:t>
            </a:r>
            <a:endParaRPr sz="1600" b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925C8E-1D6C-A6AB-F4F2-119BB89F5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84" y="4030935"/>
            <a:ext cx="250309" cy="25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7CEDB2E-730F-EAE5-00A6-1E71B6357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78" y="4435961"/>
            <a:ext cx="250309" cy="24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 in the middle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atacante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se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posiciona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entre as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partes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envolvidas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conexão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capturando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manipulando</a:t>
            </a:r>
            <a:r>
              <a:rPr lang="en-US" sz="2400" b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1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>
              <a:buClr>
                <a:srgbClr val="040A24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Conhecimento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prévio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 do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conteúdo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visto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até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aqui</a:t>
            </a:r>
            <a:r>
              <a:rPr lang="en-US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que é um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40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 in the Middle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</a:p>
        </p:txBody>
      </p:sp>
      <p:sp>
        <p:nvSpPr>
          <p:cNvPr id="185" name="Google Shape;185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2262750" y="2865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Capturando tráfego da rede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Manipulando a rede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um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Man in the Middle?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ataque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 in the Middle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é um tipo de ataque de espionagem, em que os invasores interrompem uma conversa ou transferência de dados existente.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456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Depois de se inserirem no “meio” da transferência, os atacantes fingem ser ambos participantes legítimos.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 in the Middle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6391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SzPts val="240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Interceptação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informações e dados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en-US"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SzPts val="240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Envio de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links maliciosos ou outras informações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lnSpc>
                <a:spcPct val="114999"/>
              </a:lnSpc>
              <a:spcBef>
                <a:spcPts val="1000"/>
              </a:spcBef>
              <a:buSzPts val="240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</a:rPr>
              <a:t>Camuflado.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 in the Middle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131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Conceitos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chaves</a:t>
            </a:r>
            <a:endParaRPr lang="en-US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3;g109ffa863cd_0_328">
            <a:extLst>
              <a:ext uri="{FF2B5EF4-FFF2-40B4-BE49-F238E27FC236}">
                <a16:creationId xmlns:a16="http://schemas.microsoft.com/office/drawing/2014/main" id="{7ED382B5-1EB6-B69D-5255-FE27B0AD2BDF}"/>
              </a:ext>
            </a:extLst>
          </p:cNvPr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sequestro de sessão;</a:t>
            </a:r>
          </a:p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Invasores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se inserem como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retransmissores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proxies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em uma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conexão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pt-BR"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Exploração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em tempo real 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 tráfego</a:t>
            </a: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lang="en-US"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1120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lang="en-US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  <p:sp>
        <p:nvSpPr>
          <p:cNvPr id="3" name="Google Shape;203;g109ffa863cd_0_328">
            <a:extLst>
              <a:ext uri="{FF2B5EF4-FFF2-40B4-BE49-F238E27FC236}">
                <a16:creationId xmlns:a16="http://schemas.microsoft.com/office/drawing/2014/main" id="{7ED382B5-1EB6-B69D-5255-FE27B0AD2BDF}"/>
              </a:ext>
            </a:extLst>
          </p:cNvPr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Interceptação de dados;</a:t>
            </a:r>
          </a:p>
          <a:p>
            <a:pPr marL="342900" indent="-342900" algn="just">
              <a:lnSpc>
                <a:spcPct val="115000"/>
              </a:lnSpc>
              <a:spcBef>
                <a:spcPts val="1000"/>
              </a:spcBef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Acesso de senhas e roubo de fundos.</a:t>
            </a:r>
            <a:endParaRPr lang="pt-BR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566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ataques</a:t>
            </a:r>
            <a:endParaRPr lang="en-US" sz="4000" b="1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pic>
        <p:nvPicPr>
          <p:cNvPr id="2050" name="Picture 2" descr="What Is a Man-in-the-Middle Attack?">
            <a:extLst>
              <a:ext uri="{FF2B5EF4-FFF2-40B4-BE49-F238E27FC236}">
                <a16:creationId xmlns:a16="http://schemas.microsoft.com/office/drawing/2014/main" id="{4D2CEFE2-DB53-24C3-0867-F65807E0F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131" y="2075593"/>
            <a:ext cx="6224451" cy="11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n-in-the-Middle Attack Example">
            <a:extLst>
              <a:ext uri="{FF2B5EF4-FFF2-40B4-BE49-F238E27FC236}">
                <a16:creationId xmlns:a16="http://schemas.microsoft.com/office/drawing/2014/main" id="{AF9F9707-03A9-596C-6AE0-DF033EDF0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130" y="3569799"/>
            <a:ext cx="6224451" cy="11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55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 sz="2400" dirty="0" err="1">
                <a:sym typeface="Calibri"/>
              </a:rPr>
              <a:t>WireShark</a:t>
            </a:r>
            <a:r>
              <a:rPr lang="en-US" sz="2400" dirty="0">
                <a:sym typeface="Calibri"/>
              </a:rPr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2400" dirty="0">
                <a:sym typeface="Calibri"/>
              </a:rPr>
              <a:t>Ettercap.</a:t>
            </a:r>
            <a:endParaRPr lang="en-US" dirty="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2400" dirty="0">
                <a:sym typeface="Calibri"/>
              </a:rPr>
              <a:t>Cain e Abel.</a:t>
            </a:r>
            <a:endParaRPr lang="en-US" dirty="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2400" dirty="0" err="1">
                <a:sym typeface="Calibri"/>
              </a:rPr>
              <a:t>Bettercap</a:t>
            </a:r>
            <a:r>
              <a:rPr lang="en-US" sz="2400" dirty="0">
                <a:sym typeface="Calibri"/>
              </a:rPr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sz="2400" dirty="0" err="1">
                <a:ea typeface="Calibri"/>
                <a:sym typeface="Calibri"/>
              </a:rPr>
              <a:t>Máquinas</a:t>
            </a:r>
            <a:r>
              <a:rPr lang="en-US" sz="2400" dirty="0">
                <a:ea typeface="Calibri"/>
                <a:sym typeface="Calibri"/>
              </a:rPr>
              <a:t> </a:t>
            </a:r>
            <a:r>
              <a:rPr lang="en-US" sz="2400" dirty="0" err="1">
                <a:ea typeface="Calibri"/>
                <a:sym typeface="Calibri"/>
              </a:rPr>
              <a:t>virtuais</a:t>
            </a:r>
            <a:r>
              <a:rPr lang="en-US" sz="2400" i="0" u="none" strike="noStrike" cap="none" dirty="0">
                <a:ea typeface="Calibri"/>
                <a:sym typeface="Calibri"/>
              </a:rPr>
              <a:t>.</a:t>
            </a:r>
            <a:endParaRPr lang="en-US" dirty="0"/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0670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 in the middle é um dos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tipos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ataques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mais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críticos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dado o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seu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alto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potencial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danos</a:t>
            </a:r>
            <a:r>
              <a:rPr lang="en-US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0219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2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Capturando dados da rede</a:t>
            </a:r>
            <a:endParaRPr lang="en-US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91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23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Nesta etapa vamos utilizar o Wireshark para capturar dados de uma sessão.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4953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Wireshark é um analisador de protocolo de rede ou um aplicativo que captura pacotes de uma conexão de rede.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Pacote é o nome dado a uma unidade discreta de dados em uma rede Ethernet típica.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pic>
        <p:nvPicPr>
          <p:cNvPr id="3074" name="Picture 2" descr="Wireshark · Go Deep.">
            <a:extLst>
              <a:ext uri="{FF2B5EF4-FFF2-40B4-BE49-F238E27FC236}">
                <a16:creationId xmlns:a16="http://schemas.microsoft.com/office/drawing/2014/main" id="{DE09B365-0777-1458-DDE7-2E15C6098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749" y="4102150"/>
            <a:ext cx="844501" cy="844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93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4661B-B9B3-3E65-654B-F1242BA1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640" y="2231828"/>
            <a:ext cx="6770719" cy="187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12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 Wireshark é um sniffer de rede, ou seja, é uma aplicação que lê pacotes de dados que atravessam a rede dentro da camada TCP/IP (Transmission Control Protocol/Internet Protocol)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875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764388-B166-23FB-411E-935D70808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602" y="2023924"/>
            <a:ext cx="5386796" cy="272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855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49"/>
            <a:ext cx="8016900" cy="3175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Captura de pacotes: o Wireshark ouve uma conexão de rede em tempo real e captura fluxos inteiros de tráfego;</a:t>
            </a:r>
          </a:p>
          <a:p>
            <a:pPr marL="342900" marR="0" lvl="0" indent="-3429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Filtragem: O Wireshark é capaz de fatiar e filtrar os dados usando filtros;</a:t>
            </a:r>
          </a:p>
          <a:p>
            <a:pPr marL="342900" marR="0" lvl="0" indent="-3429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Visualização: Permite a visualização do conteúdo dos pacotes capturados.</a:t>
            </a:r>
            <a:endParaRPr lang="en-US" sz="24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4117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Wireshark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pic>
        <p:nvPicPr>
          <p:cNvPr id="4100" name="Picture 4" descr="6.3. Filtering Packets While Viewing">
            <a:extLst>
              <a:ext uri="{FF2B5EF4-FFF2-40B4-BE49-F238E27FC236}">
                <a16:creationId xmlns:a16="http://schemas.microsoft.com/office/drawing/2014/main" id="{7526AE24-DF85-A2E7-71DF-1B16D3B83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9344" y="1481050"/>
            <a:ext cx="4405312" cy="347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862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utilizar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Wireshark para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simular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captura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pacotes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nossa</a:t>
            </a:r>
            <a:r>
              <a:rPr lang="en-US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rede.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4518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3</a:t>
            </a:r>
            <a:endParaRPr sz="24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Manipulando a rede</a:t>
            </a:r>
            <a:endParaRPr lang="pt-BR"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09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continuar explorando ataques do tipo </a:t>
            </a:r>
            <a:r>
              <a:rPr lang="pt-BR" sz="24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 in the Middle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agora utilizando recursos da ferramenta Ettercap.</a:t>
            </a:r>
            <a:endParaRPr lang="en-US" sz="2400" b="0" i="1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6790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Ettercap é um conjunto abrangente para ataques Man in the Middle.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Ettercap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pic>
        <p:nvPicPr>
          <p:cNvPr id="6146" name="Picture 2" descr="logo">
            <a:extLst>
              <a:ext uri="{FF2B5EF4-FFF2-40B4-BE49-F238E27FC236}">
                <a16:creationId xmlns:a16="http://schemas.microsoft.com/office/drawing/2014/main" id="{873B0A8D-E775-2E49-B5ED-5711B8689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920" y="3598278"/>
            <a:ext cx="3566160" cy="115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466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Possui sniffing de conexões ao vivo, filtragem de conteúdo em tempo real e muitos outros recursos. </a:t>
            </a:r>
          </a:p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Suporta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dissecção ativa e passiva de muitos protocolos e inclui muitos recursos para análise de rede e host.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Ettercap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511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2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Baseado em IP</a:t>
            </a:r>
            <a:r>
              <a:rPr lang="pt-BR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os pacotes são filtrados com base na origem e destino IP;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os pacotes são filtrados com base no endereço MAC, útil para sniffing conexões através de um gateway;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3983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26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ARP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utiliza o envenenamento ARP para sniffar em uma LAN entre dois hosts (full-duplex).</a:t>
            </a:r>
          </a:p>
          <a:p>
            <a:pPr marL="342900" marR="0" lvl="0" indent="-342900" algn="just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pt-BR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PublicARP</a:t>
            </a: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usa o envenenamento ARP para sniffar em uma LAN de um host vítima para todos os outros (half-duplex).</a:t>
            </a: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Modos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operação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2682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9ffa863cd_0_328"/>
          <p:cNvSpPr txBox="1"/>
          <p:nvPr/>
        </p:nvSpPr>
        <p:spPr>
          <a:xfrm>
            <a:off x="565525" y="1481050"/>
            <a:ext cx="8016900" cy="313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pt-BR" sz="240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Vamos utilizar o Ettercap para realizar operações do tipo Man in the Middle.</a:t>
            </a:r>
            <a:endParaRPr lang="en-US" sz="240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Prática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g109ffa863cd_0_3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6277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6" ma:contentTypeDescription="Create a new document." ma:contentTypeScope="" ma:versionID="521d280d5f85db8478d88c96e960a7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de0ecea43319d87aebf071435ed4a5d9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945ED4D2-CB89-48D0-9492-48A32AB0CF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395025-9147-4E15-889A-D42EB62FD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7CB545-2F42-4F9B-81B9-9B2A306F6F9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4234</TotalTime>
  <Words>713</Words>
  <Application>Microsoft Office PowerPoint</Application>
  <PresentationFormat>Apresentação no Ecrã (16:9)</PresentationFormat>
  <Paragraphs>101</Paragraphs>
  <Slides>30</Slides>
  <Notes>30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30</vt:i4>
      </vt:variant>
    </vt:vector>
  </HeadingPairs>
  <TitlesOfParts>
    <vt:vector size="31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 Mestieri</dc:creator>
  <cp:lastModifiedBy>Cassiano Peres</cp:lastModifiedBy>
  <cp:revision>61</cp:revision>
  <dcterms:modified xsi:type="dcterms:W3CDTF">2025-05-23T20:51:53Z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